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1BA-4861-8D31-1D4C11CA4C74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1BA-4861-8D31-1D4C11CA4C74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1BA-4861-8D31-1D4C11CA4C74}"/>
              </c:ext>
            </c:extLst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1BA-4861-8D31-1D4C11CA4C74}"/>
              </c:ext>
            </c:extLst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1BA-4861-8D31-1D4C11CA4C74}"/>
              </c:ext>
            </c:extLst>
          </c:dPt>
          <c:dPt>
            <c:idx val="5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1BA-4861-8D31-1D4C11CA4C74}"/>
              </c:ext>
            </c:extLst>
          </c:dPt>
          <c:dPt>
            <c:idx val="6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1BA-4861-8D31-1D4C11CA4C74}"/>
              </c:ext>
            </c:extLst>
          </c:dPt>
          <c:dPt>
            <c:idx val="7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1BA-4861-8D31-1D4C11CA4C74}"/>
              </c:ext>
            </c:extLst>
          </c:dPt>
          <c:dPt>
            <c:idx val="8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1BA-4861-8D31-1D4C11CA4C74}"/>
              </c:ext>
            </c:extLst>
          </c:dPt>
          <c:dPt>
            <c:idx val="9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91BA-4861-8D31-1D4C11CA4C7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E8F0F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India</c:v>
                </c:pt>
                <c:pt idx="1">
                  <c:v>USA</c:v>
                </c:pt>
                <c:pt idx="2">
                  <c:v>Ghana</c:v>
                </c:pt>
                <c:pt idx="3">
                  <c:v>Nigeria</c:v>
                </c:pt>
                <c:pt idx="4">
                  <c:v>Pakistan</c:v>
                </c:pt>
                <c:pt idx="5">
                  <c:v>China</c:v>
                </c:pt>
                <c:pt idx="6">
                  <c:v>Nepal</c:v>
                </c:pt>
                <c:pt idx="7">
                  <c:v>Iran</c:v>
                </c:pt>
                <c:pt idx="8">
                  <c:v>Canada</c:v>
                </c:pt>
                <c:pt idx="9">
                  <c:v>Kenya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4616</c:v>
                </c:pt>
                <c:pt idx="1">
                  <c:v>764</c:v>
                </c:pt>
                <c:pt idx="2">
                  <c:v>440</c:v>
                </c:pt>
                <c:pt idx="3">
                  <c:v>430</c:v>
                </c:pt>
                <c:pt idx="4">
                  <c:v>273</c:v>
                </c:pt>
                <c:pt idx="5">
                  <c:v>125</c:v>
                </c:pt>
                <c:pt idx="6">
                  <c:v>81</c:v>
                </c:pt>
                <c:pt idx="7">
                  <c:v>75</c:v>
                </c:pt>
                <c:pt idx="8">
                  <c:v>69</c:v>
                </c:pt>
                <c:pt idx="9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1BA-4861-8D31-1D4C11CA4C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28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B192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466-415B-82DD-722AA4056C0F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66-415B-82DD-722AA4056C0F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466-415B-82DD-722AA4056C0F}"/>
              </c:ext>
            </c:extLst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466-415B-82DD-722AA4056C0F}"/>
              </c:ext>
            </c:extLst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466-415B-82DD-722AA4056C0F}"/>
              </c:ext>
            </c:extLst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466-415B-82DD-722AA4056C0F}"/>
              </c:ext>
            </c:extLst>
          </c:dPt>
          <c:dPt>
            <c:idx val="6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466-415B-82DD-722AA4056C0F}"/>
              </c:ext>
            </c:extLst>
          </c:dPt>
          <c:dPt>
            <c:idx val="7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466-415B-82DD-722AA4056C0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E8F0F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Business Analytics</c:v>
                </c:pt>
                <c:pt idx="1">
                  <c:v>Computer Science</c:v>
                </c:pt>
                <c:pt idx="2">
                  <c:v>Data Science</c:v>
                </c:pt>
                <c:pt idx="3">
                  <c:v>Cybersecurity</c:v>
                </c:pt>
                <c:pt idx="4">
                  <c:v>Health Informatics</c:v>
                </c:pt>
                <c:pt idx="5">
                  <c:v>Info Systems</c:v>
                </c:pt>
                <c:pt idx="6">
                  <c:v>AI</c:v>
                </c:pt>
                <c:pt idx="7">
                  <c:v>Finance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1080</c:v>
                </c:pt>
                <c:pt idx="1">
                  <c:v>1066</c:v>
                </c:pt>
                <c:pt idx="2">
                  <c:v>529</c:v>
                </c:pt>
                <c:pt idx="3">
                  <c:v>437</c:v>
                </c:pt>
                <c:pt idx="4">
                  <c:v>418</c:v>
                </c:pt>
                <c:pt idx="5">
                  <c:v>337</c:v>
                </c:pt>
                <c:pt idx="6">
                  <c:v>319</c:v>
                </c:pt>
                <c:pt idx="7">
                  <c:v>297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466-415B-82DD-722AA4056C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28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B192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Intakes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3AE-4BFB-907E-35773A1F07B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3AE-4BFB-907E-35773A1F07B2}"/>
              </c:ext>
            </c:extLst>
          </c:dPt>
          <c:dPt>
            <c:idx val="2"/>
            <c:invertIfNegative val="0"/>
            <c:bubble3D val="0"/>
            <c:spPr>
              <a:solidFill>
                <a:srgbClr val="1A56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AE-4BFB-907E-35773A1F07B2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3AE-4BFB-907E-35773A1F07B2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3AE-4BFB-907E-35773A1F07B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255</c:v>
                </c:pt>
                <c:pt idx="2">
                  <c:v>4626</c:v>
                </c:pt>
                <c:pt idx="3">
                  <c:v>2615</c:v>
                </c:pt>
                <c:pt idx="4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3AE-4BFB-907E-35773A1F07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Semester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6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464-4C65-8A82-C16615ABA49C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64-4C65-8A82-C16615ABA49C}"/>
              </c:ext>
            </c:extLst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64-4C65-8A82-C16615ABA49C}"/>
              </c:ext>
            </c:extLst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464-4C65-8A82-C16615ABA49C}"/>
              </c:ext>
            </c:extLst>
          </c:dPt>
          <c:cat>
            <c:strRef>
              <c:f>Sheet1!$A$2:$A$5</c:f>
              <c:strCache>
                <c:ptCount val="4"/>
                <c:pt idx="0">
                  <c:v>Fall</c:v>
                </c:pt>
                <c:pt idx="1">
                  <c:v>Winter</c:v>
                </c:pt>
                <c:pt idx="2">
                  <c:v>Spring</c:v>
                </c:pt>
                <c:pt idx="3">
                  <c:v>Summer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4977</c:v>
                </c:pt>
                <c:pt idx="1">
                  <c:v>1648</c:v>
                </c:pt>
                <c:pt idx="2">
                  <c:v>725</c:v>
                </c:pt>
                <c:pt idx="3">
                  <c:v>188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464-4C65-8A82-C16615ABA4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7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Contacts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DB5-4AA4-BBAB-BCC8401C82BD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DB5-4AA4-BBAB-BCC8401C82BD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DB5-4AA4-BBAB-BCC8401C82BD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DB5-4AA4-BBAB-BCC8401C82B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Jagdeep</c:v>
                </c:pt>
                <c:pt idx="1">
                  <c:v>Swarna</c:v>
                </c:pt>
                <c:pt idx="2">
                  <c:v>Ayesha</c:v>
                </c:pt>
                <c:pt idx="3">
                  <c:v>Lavnaya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2083</c:v>
                </c:pt>
                <c:pt idx="1">
                  <c:v>1214</c:v>
                </c:pt>
                <c:pt idx="2">
                  <c:v>855</c:v>
                </c:pt>
                <c:pt idx="3">
                  <c:v>195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DB5-4AA4-BBAB-BCC8401C82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642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0" y="-274320"/>
            <a:ext cx="5029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0" b="1" dirty="0" smtClean="0">
                <a:solidFill>
                  <a:srgbClr val="121F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DP</a:t>
            </a:r>
            <a:endParaRPr lang="en-US" sz="25000" dirty="0"/>
          </a:p>
        </p:txBody>
      </p:sp>
      <p:sp>
        <p:nvSpPr>
          <p:cNvPr id="4" name="Text 2"/>
          <p:cNvSpPr/>
          <p:nvPr/>
        </p:nvSpPr>
        <p:spPr>
          <a:xfrm>
            <a:off x="685800" y="215757"/>
            <a:ext cx="6858000" cy="51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DePaul University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7315200" cy="177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Admissions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 Report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Graduate Recruitment &amp; Outreach Analytics  ·  2022 –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931920"/>
            <a:ext cx="1938528" cy="914400"/>
          </a:xfrm>
          <a:prstGeom prst="rect">
            <a:avLst/>
          </a:prstGeom>
          <a:solidFill>
            <a:srgbClr val="1420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400507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4,998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443484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Students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88920" y="3931920"/>
            <a:ext cx="1938528" cy="914400"/>
          </a:xfrm>
          <a:prstGeom prst="rect">
            <a:avLst/>
          </a:prstGeom>
          <a:solidFill>
            <a:srgbClr val="1420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8920" y="400507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88920" y="443484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Countries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92040" y="3931920"/>
            <a:ext cx="1938528" cy="914400"/>
          </a:xfrm>
          <a:prstGeom prst="rect">
            <a:avLst/>
          </a:prstGeom>
          <a:solidFill>
            <a:srgbClr val="1420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400507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7,541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92040" y="443484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95160" y="3931920"/>
            <a:ext cx="1938528" cy="914400"/>
          </a:xfrm>
          <a:prstGeom prst="rect">
            <a:avLst/>
          </a:prstGeom>
          <a:solidFill>
            <a:srgbClr val="1420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400507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4,349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95160" y="443484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Touchpoints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Performance Indicators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64008" cy="129844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6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4,998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Students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121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7,541 total records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27832" y="1188720"/>
            <a:ext cx="26517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188720"/>
            <a:ext cx="64008" cy="12984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12801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10712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Countries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2121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dominates at 61%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44184" y="1188720"/>
            <a:ext cx="26517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44184" y="1188720"/>
            <a:ext cx="64008" cy="1298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227064" y="12801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27064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Offered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27064" y="2121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&amp; CS are top picks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651760"/>
            <a:ext cx="26517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651760"/>
            <a:ext cx="64008" cy="12984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743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4,349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9436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Touchpoints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584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Email-led engagement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27832" y="2651760"/>
            <a:ext cx="26517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27832" y="2651760"/>
            <a:ext cx="64008" cy="12984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3410712" y="2743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13.5%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3410712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Group Share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10712" y="3584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86.5% direct/agency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44184" y="2651760"/>
            <a:ext cx="26517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4184" y="2651760"/>
            <a:ext cx="64008" cy="1298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227064" y="2743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66%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227064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Intake Share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27064" y="3584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Q3 seasonal pressure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Geographic Origins &amp; Top Programs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26280" y="1143000"/>
            <a:ext cx="45720" cy="3749040"/>
          </a:xfrm>
          <a:prstGeom prst="rect">
            <a:avLst/>
          </a:prstGeom>
          <a:solidFill>
            <a:srgbClr val="1A284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7043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SOURCE COUNTRIES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371600"/>
          <a:ext cx="41148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709160" y="117043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PROGRAMS BY ENROLLMENT</a:t>
            </a:r>
            <a:endParaRPr lang="en-US" sz="8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663440" y="1371600"/>
          <a:ext cx="42062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OUTREACH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Intake Trends &amp; Counselor Workload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26280" y="1143000"/>
            <a:ext cx="45720" cy="374904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704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BY YEAR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371600"/>
          <a:ext cx="26517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063240" y="11704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SPLIT</a:t>
            </a:r>
            <a:endParaRPr lang="en-US" sz="8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2926080" y="1371600"/>
          <a:ext cx="15087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749040"/>
            <a:ext cx="4114800" cy="43891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" y="38039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66% Fall intake creates severe Q3 operational pressure each year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709160" y="117043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 CONTACT VOLUME</a:t>
            </a:r>
            <a:endParaRPr lang="en-US" sz="800" dirty="0"/>
          </a:p>
        </p:txBody>
      </p:sp>
      <p:graphicFrame>
        <p:nvGraphicFramePr>
          <p:cNvPr id="13" name="Chart 2"/>
          <p:cNvGraphicFramePr/>
          <p:nvPr/>
        </p:nvGraphicFramePr>
        <p:xfrm>
          <a:off x="4663440" y="1371600"/>
          <a:ext cx="42062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Shape 9"/>
          <p:cNvSpPr/>
          <p:nvPr/>
        </p:nvSpPr>
        <p:spPr>
          <a:xfrm>
            <a:off x="4663440" y="3291840"/>
            <a:ext cx="987552" cy="68580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663440" y="333756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48%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4663440" y="366674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Jagdeep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742432" y="3291840"/>
            <a:ext cx="987552" cy="68580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742432" y="333756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28%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5742432" y="366674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Swarna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821424" y="3291840"/>
            <a:ext cx="987552" cy="68580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821424" y="333756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821424" y="366674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7900416" y="3291840"/>
            <a:ext cx="987552" cy="68580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7900416" y="333756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4.5%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7900416" y="366674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Lavnaya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663440" y="4069080"/>
            <a:ext cx="4206240" cy="41148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7" name="Text 22"/>
          <p:cNvSpPr/>
          <p:nvPr/>
        </p:nvSpPr>
        <p:spPr>
          <a:xfrm>
            <a:off x="4754880" y="4114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Jagdeep handles 48% of all outreach — territory rebalancing needed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Actions for 2025–2026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51760" cy="1353312"/>
          </a:xfrm>
          <a:prstGeom prst="rect">
            <a:avLst/>
          </a:prstGeom>
          <a:solidFill>
            <a:srgbClr val="11203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280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33272" y="13350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21208" y="167335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Source Markets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1956816"/>
            <a:ext cx="2450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61% share = concentration risk. Invest in West Africa (11.5%) and underserved LATAM &amp; SEA markets.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27832" y="1170432"/>
            <a:ext cx="2651760" cy="1353312"/>
          </a:xfrm>
          <a:prstGeom prst="rect">
            <a:avLst/>
          </a:prstGeom>
          <a:solidFill>
            <a:srgbClr val="11203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170432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280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49624" y="13350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37560" y="167335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Pipeline Leakage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956816"/>
            <a:ext cx="2450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2,550 unresolved contacts (Follow Up + Missing Transcript). Automate document-chase workflows to convert leads.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44184" y="1170432"/>
            <a:ext cx="2651760" cy="1353312"/>
          </a:xfrm>
          <a:prstGeom prst="rect">
            <a:avLst/>
          </a:prstGeom>
          <a:solidFill>
            <a:srgbClr val="11203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44184" y="1170432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153912" y="1280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65976" y="13350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53912" y="167335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Counselor Workload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53912" y="1956816"/>
            <a:ext cx="2450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Jagdeep at 48% vs Lavnaya at 4.5% is unsustainable. Restructure territories and set per-counselor capacity limits.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2651760"/>
            <a:ext cx="2651760" cy="1353312"/>
          </a:xfrm>
          <a:prstGeom prst="rect">
            <a:avLst/>
          </a:prstGeom>
          <a:solidFill>
            <a:srgbClr val="11203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651760"/>
            <a:ext cx="265176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276148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33272" y="28163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21208" y="315468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Semester Demand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" y="3438144"/>
            <a:ext cx="2450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Fall concentration strains Q3 operations. Develop Winter &amp; Spring intake incentives to distribute load.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27832" y="2651760"/>
            <a:ext cx="2651760" cy="1353312"/>
          </a:xfrm>
          <a:prstGeom prst="rect">
            <a:avLst/>
          </a:prstGeom>
          <a:solidFill>
            <a:srgbClr val="11203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27832" y="2651760"/>
            <a:ext cx="265176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276148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849624" y="28163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37560" y="315468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CRM Data Quality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3438144"/>
            <a:ext cx="2450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2,543 duplicates detected. Major, Status &amp; Degree_Type fields are 100% null — enforce mandatory field completion.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44184" y="2651760"/>
            <a:ext cx="2651760" cy="1353312"/>
          </a:xfrm>
          <a:prstGeom prst="rect">
            <a:avLst/>
          </a:prstGeom>
          <a:solidFill>
            <a:srgbClr val="11203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44184" y="265176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6153912" y="276148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665976" y="28163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153912" y="315468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Study Group Channel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53912" y="3438144"/>
            <a:ext cx="2450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Group sits at 13.5%. Monitor split quarterly and target 20% share by end of 2026 to reduce agency reliance.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313</Words>
  <Application>Microsoft Office PowerPoint</Application>
  <PresentationFormat>On-screen Show (16:9)</PresentationFormat>
  <Paragraphs>83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DePaul Admissions Intelligence</dc:title>
  <dc:subject>PptxGenJS Presentation</dc:subject>
  <dc:creator>PptxGenJS</dc:creator>
  <cp:lastModifiedBy>USER1</cp:lastModifiedBy>
  <cp:revision>2</cp:revision>
  <dcterms:created xsi:type="dcterms:W3CDTF">2026-05-07T11:04:29Z</dcterms:created>
  <dcterms:modified xsi:type="dcterms:W3CDTF">2026-05-08T11:24:11Z</dcterms:modified>
</cp:coreProperties>
</file>